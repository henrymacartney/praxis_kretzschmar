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40"/>
    <p:restoredTop sz="94610"/>
  </p:normalViewPr>
  <p:slideViewPr>
    <p:cSldViewPr snapToGrid="0" snapToObjects="1">
      <p:cViewPr varScale="1">
        <p:scale>
          <a:sx n="220" d="100"/>
          <a:sy n="220" d="100"/>
        </p:scale>
        <p:origin x="5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565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50808E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0789920" y="3931920"/>
            <a:ext cx="3108960" cy="3108960"/>
          </a:xfrm>
          <a:prstGeom prst="ellipse">
            <a:avLst/>
          </a:prstGeom>
          <a:solidFill>
            <a:srgbClr val="84B59F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69A297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777240" y="908616"/>
            <a:ext cx="868680" cy="868680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237103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813175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COMPARISON  ·  END-USER REVIEW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206367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Web Presence for the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Kretzschmar Psychotherapy Practice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742559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Created and Programmed by Dr. H. Macartney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2960" y="4400927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Stack: PhpStorm v 2026.1, WordPress 6.9.4, PHP 8.3.30, MySQL 8.0.35, Tailwind v4.3, JavaScript ES6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949567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Psychotherapeutische Praxis Dr. Alexander Kretzschmar, Wiesbaden — the modern Hostinger site compared with the old existing </a:t>
            </a:r>
            <a:r>
              <a:rPr lang="en-US" sz="1400" dirty="0" err="1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kretzschmar-wiesbaden.de</a:t>
            </a:r>
            <a:r>
              <a:rPr lang="en-US" sz="14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previously hosted by Strato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7360920" cy="4160520"/>
          </a:xfrm>
          <a:prstGeom prst="roundRect">
            <a:avLst>
              <a:gd name="adj" fmla="val 1319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82296" cy="4160520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67208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65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website, compared with the site </a:t>
            </a:r>
            <a:r>
              <a:rPr lang="en-US" sz="1650" i="1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kretzschmar-wiesbaden.de</a:t>
            </a:r>
            <a:r>
              <a:rPr lang="en-US" sz="165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presents the psychotherapeutic practice of </a:t>
            </a:r>
            <a:r>
              <a:rPr lang="en-US" sz="1650" b="1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Alexander Kretzschmar</a:t>
            </a:r>
            <a:r>
              <a:rPr lang="en-US" sz="165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Wiesbaden in a calm, professional, modern and visually restrained way.</a:t>
            </a:r>
            <a:endParaRPr lang="en-US" sz="165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5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design of the new site provides a serious, trustworthy and appropriate appearance for a psychotherapy practice — in a manner associated with professional medical, pharmaceutical and surgical websites.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092440" y="178308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83667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66760" y="2423160"/>
            <a:ext cx="3154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site</a:t>
            </a:r>
            <a:endParaRPr lang="en-US" sz="1200" dirty="0"/>
          </a:p>
          <a:p>
            <a:pPr marL="0" indent="0">
              <a:lnSpc>
                <a:spcPts val="160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lightpink-wolf-142779.hostingersite.com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site</a:t>
            </a:r>
            <a:endParaRPr lang="en-US" sz="1200" dirty="0"/>
          </a:p>
          <a:p>
            <a:pPr marL="0" indent="0">
              <a:lnSpc>
                <a:spcPts val="160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kretzschmar-wiesbaden.de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comparison of design, structure and professionalism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1–3 · FIRST IMPRESSION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Calm, Modern &amp; Professional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site presents the practice in a calm, professional and visually restrained way — serious and trustworthy, exactly the tone a psychotherapy practice needs.</a:t>
            </a:r>
            <a:endParaRPr lang="en-US" sz="14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built as a modern practice website: landing page, clear header navigation, dedicated content pages and a consistent footer, with no unnecessary visual clutter.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LANGUAGE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4805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1EA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02920" y="47365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beige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44805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F2A44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2331720" y="47365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44805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B5483D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160520" y="47365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accent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6583680" y="1892808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039112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52360" y="1755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Restrained, trustworthy design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452360" y="2075688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background, dark-blue type and red accents — appropriate for a medical / life-sciences practice.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55080" y="3081528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5"/>
          <p:cNvSpPr/>
          <p:nvPr/>
        </p:nvSpPr>
        <p:spPr>
          <a:xfrm>
            <a:off x="6583680" y="337413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352044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52360" y="32369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parallax hero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7452360" y="3557016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therapy-room hero image stays visually stable while content scrolls — modern but conservative.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355080" y="4562856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19"/>
          <p:cNvSpPr/>
          <p:nvPr/>
        </p:nvSpPr>
        <p:spPr>
          <a:xfrm>
            <a:off x="6583680" y="4855464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5001768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452360" y="47183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structure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7452360" y="5038344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navigation, content pages and footer give a logical, confidence-building flow.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4–5 · HEADER &amp; NAVIGATION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to Navigate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carries the practice logo and name on the left, with a clean navigation menu on the right. The Leistungen item opens a well-spaced dropdown that gives quick access to every service area without overcrowding the bar.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NAVIGATION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292608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2377440" y="292608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mich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292608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251960" y="292608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92608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126480" y="292608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LEISTUNGEN SUBMENU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502920" y="4114800"/>
            <a:ext cx="64008" cy="868680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704088" y="42336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Tiefenpsychologie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" y="45262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Depth-psych. therapy (Kassenleistung)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411480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4297680" y="4114800"/>
            <a:ext cx="64008" cy="868680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4498848" y="42336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Gestalttherapie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98848" y="45262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Humanistic therapy in the here &amp; now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2440" y="411480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8092440" y="4114800"/>
            <a:ext cx="64008" cy="868680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8293608" y="42336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Psychoonkologie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93608" y="45262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people affected by cancer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12064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502920" y="5120640"/>
            <a:ext cx="64008" cy="868680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704088" y="52395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Hypnotherapie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" y="55321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hypnosis (Milton Erickson)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0" y="512064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Shape 30"/>
          <p:cNvSpPr/>
          <p:nvPr/>
        </p:nvSpPr>
        <p:spPr>
          <a:xfrm>
            <a:off x="4297680" y="5120640"/>
            <a:ext cx="64008" cy="868680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4498848" y="52395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98848" y="55321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decisions &amp; personal development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92440" y="512064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Shape 34"/>
          <p:cNvSpPr/>
          <p:nvPr/>
        </p:nvSpPr>
        <p:spPr>
          <a:xfrm>
            <a:off x="8092440" y="5120640"/>
            <a:ext cx="64008" cy="868680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8293608" y="52395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93608" y="55321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rooms in central Wiesbaden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LANDING PAGE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Guiding the Visitor to Action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“UNSERE LEISTUNGEN” — SIX SERVICE CARDS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67512" y="22128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225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6152" y="22311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Tiefenpsychologie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98648" y="1938528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3063240" y="22128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23225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2311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Gestalttherapie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294376" y="1938528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0"/>
          <p:cNvSpPr/>
          <p:nvPr/>
        </p:nvSpPr>
        <p:spPr>
          <a:xfrm>
            <a:off x="5458968" y="22128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696" y="232257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07608" y="22311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Psychoonkologie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310896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3"/>
          <p:cNvSpPr/>
          <p:nvPr/>
        </p:nvSpPr>
        <p:spPr>
          <a:xfrm>
            <a:off x="667512" y="33832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49300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16152" y="34015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Hypnotherapie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2898648" y="310896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16"/>
          <p:cNvSpPr/>
          <p:nvPr/>
        </p:nvSpPr>
        <p:spPr>
          <a:xfrm>
            <a:off x="3063240" y="33832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2968" y="349300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11880" y="34015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294376" y="310896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6" name="Shape 19"/>
          <p:cNvSpPr/>
          <p:nvPr/>
        </p:nvSpPr>
        <p:spPr>
          <a:xfrm>
            <a:off x="5458968" y="33832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8696" y="349300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007608" y="34015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502920" y="43708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has a short description and a “Mehr erfahren” link, making the page easy to scan.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7818120" y="1783080"/>
            <a:ext cx="3886200" cy="1627632"/>
          </a:xfrm>
          <a:prstGeom prst="roundRect">
            <a:avLst>
              <a:gd name="adj" fmla="val 3933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Shape 23"/>
          <p:cNvSpPr/>
          <p:nvPr/>
        </p:nvSpPr>
        <p:spPr>
          <a:xfrm>
            <a:off x="8065008" y="2011680"/>
            <a:ext cx="502920" cy="502920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9308" y="2125980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732520" y="2011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mich section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8065008" y="2624328"/>
            <a:ext cx="3456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personal text plus portrait builds early trust — experience, calm and a clear therapeutic approach. A red “Mehr über mich” button leads to the full profile.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7818120" y="3657600"/>
            <a:ext cx="3886200" cy="1627632"/>
          </a:xfrm>
          <a:prstGeom prst="roundRect">
            <a:avLst>
              <a:gd name="adj" fmla="val 3933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Shape 27"/>
          <p:cNvSpPr/>
          <p:nvPr/>
        </p:nvSpPr>
        <p:spPr>
          <a:xfrm>
            <a:off x="8065008" y="3886200"/>
            <a:ext cx="502920" cy="502920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9308" y="4000500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73252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call-to-action</a:t>
            </a:r>
            <a:endParaRPr lang="en-US" sz="1450" dirty="0"/>
          </a:p>
        </p:txBody>
      </p:sp>
      <p:sp>
        <p:nvSpPr>
          <p:cNvPr id="39" name="Text 29"/>
          <p:cNvSpPr/>
          <p:nvPr/>
        </p:nvSpPr>
        <p:spPr>
          <a:xfrm>
            <a:off x="8065008" y="4498848"/>
            <a:ext cx="3456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prominent red “Kontaktieren Sie uns” section before the footer, with Kontakt and Anfahrt buttons — a strong final invitation to act.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7 · FOOTER &amp; LEGAL PAGES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Stable Footer — One Serious Caveat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120640" cy="3611880"/>
          </a:xfrm>
          <a:prstGeom prst="roundRect">
            <a:avLst>
              <a:gd name="adj" fmla="val 1772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FOOTER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Dark-blue, consistent across all pages — a stable, professional ending with four columns: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uns — short practice description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Schnelllinks — quick access to main pages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Leistungen — repeated service areas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42976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Kontaktinfo — full contact details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846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back-to-top button on every page.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1645920"/>
            <a:ext cx="5806440" cy="3611880"/>
          </a:xfrm>
          <a:prstGeom prst="roundRect">
            <a:avLst>
              <a:gd name="adj" fmla="val 1772"/>
            </a:avLst>
          </a:prstGeom>
          <a:solidFill>
            <a:srgbClr val="F6E9E7"/>
          </a:solidFill>
          <a:ln w="12700">
            <a:solidFill>
              <a:srgbClr val="B5483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6172200" y="1874520"/>
            <a:ext cx="548640" cy="548640"/>
          </a:xfrm>
          <a:prstGeom prst="ellipse">
            <a:avLst/>
          </a:prstGeom>
          <a:solidFill>
            <a:srgbClr val="B5483D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2002536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0" y="187452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54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Impressum &amp; Datenschutzerklärung — not publishable yet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99632" y="2606040"/>
            <a:ext cx="5349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7A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Impressum:  incomplete, visible editorial placeholders, outdated § 5 TMG reference, unverified “vermutlich Hessen”, stale EU-ODR link.</a:t>
            </a:r>
            <a:endParaRPr lang="en-US" sz="1100" dirty="0"/>
          </a:p>
          <a:p>
            <a:pPr marL="0" indent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7A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Datenschutzerklärung:  generic template, weak Google-Fonts wording, vague cookie / server-log text, no treatment of sensitive health-related enquiries.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A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be replaced with final, verified, practice-specific versions before the site goes live.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8–10 · CONTENT PAGES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Profile, Services &amp; Contact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611880" cy="82296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1579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21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Über mich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professional profile: psychological psychotherapist in his own practice since 2000, depth-psychological foundation with Gestalt, hypnosis and psycho-oncology. Structured qualifications: Promotion (Uni Mainz), Approbation, Fritz Perls Institut, Milton Erickson Gesellschaft, Deutsche Krebsgesellschaft.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06824" y="169164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4306824" y="1691640"/>
            <a:ext cx="3611880" cy="82296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4581144" y="201168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15798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04104" y="2121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Leistungen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81144" y="288036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overview with six service cards in a balanced two-column layout — Coaching, Gestalttherapie, Hypnotherapie, Praxis, Psychoonkologie and Tiefenpsychologie — each with a “Mehr erfahren” link. Clear, not overwhelming.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10728" y="169164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4F1EA"/>
          </a:solidFill>
          <a:ln/>
          <a:effectLst>
            <a:outerShdw blurRad="114300" dist="38100" dir="8100000" algn="bl" rotWithShape="0">
              <a:srgbClr val="1F2A44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3"/>
          <p:cNvSpPr/>
          <p:nvPr/>
        </p:nvSpPr>
        <p:spPr>
          <a:xfrm>
            <a:off x="8110728" y="1691640"/>
            <a:ext cx="3611880" cy="82296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4"/>
          <p:cNvSpPr/>
          <p:nvPr/>
        </p:nvSpPr>
        <p:spPr>
          <a:xfrm>
            <a:off x="8385048" y="201168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215798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08008" y="2121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Kontakt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85048" y="288036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C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and user-focused: address (Nußbaumstraße 5, Wiesbaden), phone, email, consultation hours, directions by car / public transport, and a confidential “Nachricht senden” contact form with a privacy checkbox.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371600"/>
            <a:ext cx="3657600" cy="3657600"/>
          </a:xfrm>
          <a:prstGeom prst="ellipse">
            <a:avLst/>
          </a:prstGeom>
          <a:solidFill>
            <a:srgbClr val="50808E">
              <a:alpha val="2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·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Old Site vs. New Site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1538"/>
            </a:avLst>
          </a:prstGeom>
          <a:solidFill>
            <a:srgbClr val="2A385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1671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848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kretzschmar-wiesbaden.de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47091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 information-rich — clearly identifies practice, practitioner, address and therapy areas. Although functional and information-rich, the landing page is crowded and navigation is that of a late 1980's website — difficult to navigate for users who know modern design.</a:t>
            </a:r>
            <a:endParaRPr lang="en-US" sz="1150" dirty="0"/>
          </a:p>
          <a:p>
            <a:pPr marL="0" indent="0">
              <a:lnSpc>
                <a:spcPts val="155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strength is clarity and directness.</a:t>
            </a:r>
            <a:endParaRPr lang="en-US" sz="11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is one of a more traditional, </a:t>
            </a:r>
            <a:r>
              <a:rPr lang="en-US" sz="1150" dirty="0" err="1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out-dated</a:t>
            </a: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visual style — and numerous errors; Impressum &amp; Datenschutz not legally compliant.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349240" cy="4160520"/>
          </a:xfrm>
          <a:prstGeom prst="roundRect">
            <a:avLst>
              <a:gd name="adj" fmla="val 1538"/>
            </a:avLst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658368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1671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0848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Hostinger site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9400" y="283464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modern, structured and polished — communicating the same professional content in a contemporary, user-friendly way.</a:t>
            </a:r>
            <a:endParaRPr lang="en-US" sz="1200" dirty="0"/>
          </a:p>
          <a:p>
            <a:pPr marL="0" indent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image · subtle parallax · clear CTAs · service cards · consistent dark-blue footer.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visual hierarchy, generous spacing, contemporary colour system — a stronger first impression.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474720" cy="3474720"/>
          </a:xfrm>
          <a:prstGeom prst="ellipse">
            <a:avLst/>
          </a:prstGeom>
          <a:solidFill>
            <a:srgbClr val="69A297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84B59F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FINAL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Professional Assessment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website gives a more professional first impression and guides the user logically from introduction → services → personal background → contact.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2A385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713232" y="2688336"/>
            <a:ext cx="347472" cy="347472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68833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246888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appropriate design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55848" y="246888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2A385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3520440" y="2688336"/>
            <a:ext cx="347472" cy="347472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68833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246888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navigation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63056" y="246888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2A385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6327648" y="2688336"/>
            <a:ext cx="347472" cy="347472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68833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84848" y="246888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use of colour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70264" y="246888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2A385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9134856" y="2688336"/>
            <a:ext cx="347472" cy="347472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856" y="2688336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92056" y="246888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landing-page structure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338328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2A385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18"/>
          <p:cNvSpPr/>
          <p:nvPr/>
        </p:nvSpPr>
        <p:spPr>
          <a:xfrm>
            <a:off x="713232" y="3602736"/>
            <a:ext cx="347472" cy="347472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602736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70432" y="338328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Well-organised service overview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3355848" y="338328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2A385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Shape 21"/>
          <p:cNvSpPr/>
          <p:nvPr/>
        </p:nvSpPr>
        <p:spPr>
          <a:xfrm>
            <a:off x="3520440" y="3602736"/>
            <a:ext cx="347472" cy="347472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602736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77640" y="338328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footer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163056" y="338328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2A385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Shape 24"/>
          <p:cNvSpPr/>
          <p:nvPr/>
        </p:nvSpPr>
        <p:spPr>
          <a:xfrm>
            <a:off x="6327648" y="3602736"/>
            <a:ext cx="347472" cy="347472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602736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84848" y="338328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contact path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970264" y="338328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2A385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Shape 27"/>
          <p:cNvSpPr/>
          <p:nvPr/>
        </p:nvSpPr>
        <p:spPr>
          <a:xfrm>
            <a:off x="9134856" y="3602736"/>
            <a:ext cx="347472" cy="347472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856" y="3602736"/>
            <a:ext cx="347472" cy="34747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592056" y="338328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visual presentation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548640" y="4389120"/>
            <a:ext cx="11091672" cy="1627632"/>
          </a:xfrm>
          <a:prstGeom prst="roundRect">
            <a:avLst>
              <a:gd name="adj" fmla="val 4494"/>
            </a:avLst>
          </a:prstGeom>
          <a:solidFill>
            <a:srgbClr val="84B59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0" name="Shape 30"/>
          <p:cNvSpPr/>
          <p:nvPr/>
        </p:nvSpPr>
        <p:spPr>
          <a:xfrm>
            <a:off x="914400" y="48920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5056632"/>
            <a:ext cx="448056" cy="44805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192024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400" dirty="0"/>
          </a:p>
        </p:txBody>
      </p:sp>
      <p:sp>
        <p:nvSpPr>
          <p:cNvPr id="43" name="Text 32"/>
          <p:cNvSpPr/>
          <p:nvPr/>
        </p:nvSpPr>
        <p:spPr>
          <a:xfrm>
            <a:off x="1920240" y="4937760"/>
            <a:ext cx="9464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older site remains useful and credible but is error-prone and outdated in its design. The new site presents the practice in a more modern, accessible and visually professional manner — strongly recommended </a:t>
            </a:r>
            <a:r>
              <a:rPr lang="en-US" sz="1150" dirty="0" err="1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</a:t>
            </a: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Impressum and </a:t>
            </a:r>
            <a:r>
              <a:rPr lang="en-US" sz="1150" dirty="0" err="1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Datenschutzerklärung</a:t>
            </a: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Overall, the whole presentation of the new website is modern and very well suited to medical and life-sciences websites, with easy navigation in a user-friendly manner.</a:t>
            </a:r>
            <a:endParaRPr lang="en-US" sz="1150" dirty="0"/>
          </a:p>
        </p:txBody>
      </p:sp>
      <p:sp>
        <p:nvSpPr>
          <p:cNvPr id="44" name="Text 33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Beriott GmbH  |  Dr. phil. Dr. rer. Nat. Henry Macartney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1182</Words>
  <Application>Microsoft Macintosh PowerPoint</Application>
  <PresentationFormat>Widescreen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Comparison &amp; Professional Assessment</dc:title>
  <dc:subject>PptxGenJS Presentation</dc:subject>
  <dc:creator>Website Comparison</dc:creator>
  <cp:lastModifiedBy>Henry Macartney</cp:lastModifiedBy>
  <cp:revision>2</cp:revision>
  <dcterms:created xsi:type="dcterms:W3CDTF">2026-05-18T14:49:52Z</dcterms:created>
  <dcterms:modified xsi:type="dcterms:W3CDTF">2026-05-19T23:06:07Z</dcterms:modified>
</cp:coreProperties>
</file>