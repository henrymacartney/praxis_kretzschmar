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/>
    <p:restoredTop sz="94610"/>
  </p:normalViewPr>
  <p:slideViewPr>
    <p:cSldViewPr snapToGrid="0" snapToObjects="1">
      <p:cViewPr varScale="1">
        <p:scale>
          <a:sx n="220" d="100"/>
          <a:sy n="220" d="100"/>
        </p:scale>
        <p:origin x="9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69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ightpink-wolf-142779.hostingersite.com/" TargetMode="External"/><Relationship Id="rId5" Type="http://schemas.openxmlformats.org/officeDocument/2006/relationships/hyperlink" Target="https://springgreen-viper-610216.hostingersite.com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97680" cy="429768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0881360" y="4023360"/>
            <a:ext cx="3017520" cy="3017520"/>
          </a:xfrm>
          <a:prstGeom prst="ellipse">
            <a:avLst/>
          </a:prstGeom>
          <a:solidFill>
            <a:srgbClr val="1C7293">
              <a:alpha val="3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-1097280" y="4663440"/>
            <a:ext cx="3200400" cy="3200400"/>
          </a:xfrm>
          <a:prstGeom prst="ellipse">
            <a:avLst/>
          </a:prstGeom>
          <a:solidFill>
            <a:srgbClr val="065A82">
              <a:alpha val="26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481328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957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REPORT  ·  PROJECT STATUS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670048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Praxis Kretzschmar</a:t>
            </a:r>
            <a:endParaRPr lang="en-US" sz="43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Programme</a:t>
            </a:r>
            <a:endParaRPr lang="en-US" sz="4300" dirty="0"/>
          </a:p>
        </p:txBody>
      </p:sp>
      <p:sp>
        <p:nvSpPr>
          <p:cNvPr id="9" name="Text 6"/>
          <p:cNvSpPr/>
          <p:nvPr/>
        </p:nvSpPr>
        <p:spPr>
          <a:xfrm>
            <a:off x="822960" y="42245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FB2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Beriott GmbH — Dr. H. Macartney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47548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BF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of both practice websites measured against their User Requirements Specifications, verified against the code repository and the 17 May 2026 project handoff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58704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Beriott GmbH        Reporting date: 20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Both Projects Stand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11155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websites are fully built and content-populated, running on Hostinger demo domains behind basic auth. Remaining work is concentrated in launch, legal-compliance and hardening tasks — not in the build itself. Percentages reflect the contractor's own milestone tables (URS §8 / handoff §8), independently cross-checked against the code repository.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1F5F8"/>
          </a:solidFill>
          <a:ln/>
          <a:effectLst>
            <a:outerShdw blurRad="101600" dist="25400" dir="8100000" algn="bl" rotWithShape="0">
              <a:srgbClr val="21295C">
                <a:alpha val="1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5440680" cy="91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713232" cy="7132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22783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09928" y="31089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Alexander Kretzschmar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5528" y="3840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~85%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3291840" y="40416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i="1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i="1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(self-reported)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" y="48920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content &amp; demo migration complete. Hero band reworked 17 May. Outstanding: real legal pages, font self-hosting, draft cleanup, production deploy.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274320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1F5F8"/>
          </a:solidFill>
          <a:ln/>
          <a:effectLst>
            <a:outerShdw blurRad="101600" dist="25400" dir="8100000" algn="bl" rotWithShape="0">
              <a:srgbClr val="21295C">
                <a:alpha val="1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1"/>
          <p:cNvSpPr/>
          <p:nvPr/>
        </p:nvSpPr>
        <p:spPr>
          <a:xfrm>
            <a:off x="6217920" y="2743200"/>
            <a:ext cx="544068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Shape 12"/>
          <p:cNvSpPr/>
          <p:nvPr/>
        </p:nvSpPr>
        <p:spPr>
          <a:xfrm>
            <a:off x="6537960" y="3063240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3227832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24928" y="31089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Birgit Kretzschmar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10528" y="3840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~75%</a:t>
            </a:r>
            <a:endParaRPr lang="en-US" sz="5400" dirty="0"/>
          </a:p>
        </p:txBody>
      </p:sp>
      <p:sp>
        <p:nvSpPr>
          <p:cNvPr id="19" name="Text 15"/>
          <p:cNvSpPr/>
          <p:nvPr/>
        </p:nvSpPr>
        <p:spPr>
          <a:xfrm>
            <a:off x="9006840" y="40416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i="1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i="1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(self-reported)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10528" y="48920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complete. 14-May content/structure changes on Local only — not yet on demo. Awaiting reworked texts &amp; photos; legal pages &amp; 'Praxis' deletion pending.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Beriott GmbH  |  Dr. phil. Dr. rer. Nat. Henry Macartney  ·  Situation Report, 20 May 2026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1323015" y="64922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02F597D0-43C6-F5AA-764A-C7F53896811B}"/>
              </a:ext>
            </a:extLst>
          </p:cNvPr>
          <p:cNvSpPr/>
          <p:nvPr/>
        </p:nvSpPr>
        <p:spPr>
          <a:xfrm>
            <a:off x="7432915" y="3503479"/>
            <a:ext cx="3088473" cy="154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350"/>
              </a:lnSpc>
            </a:pPr>
            <a:r>
              <a:rPr lang="en-US" sz="8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https://springgreen-viper-610216.hostingersite.com/</a:t>
            </a:r>
            <a:endParaRPr lang="en-US" sz="8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50FF2F48-3187-A511-8BA5-44CC0D530325}"/>
              </a:ext>
            </a:extLst>
          </p:cNvPr>
          <p:cNvSpPr/>
          <p:nvPr/>
        </p:nvSpPr>
        <p:spPr>
          <a:xfrm>
            <a:off x="1720171" y="3478593"/>
            <a:ext cx="3088473" cy="154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350"/>
              </a:lnSpc>
            </a:pPr>
            <a:r>
              <a:rPr lang="en-US" sz="8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https://lightpink-wolf-142779.hostingersite.com/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Status Was Determined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asked for a pragmatic read that trusts the URS milestone claims. It does — but every major claim was cross-checked against the actual code, so the figures are evidence-backed rather than simply transcribed.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1201400" cy="1060704"/>
          </a:xfrm>
          <a:prstGeom prst="roundRect">
            <a:avLst>
              <a:gd name="adj" fmla="val 5172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777240" y="2578608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70662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49631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reviewed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709160" y="2496312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URSs (Birgit / Alex, v1.0), and the authoritative self-contained project handoff dated 17 May 2026.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3538728"/>
            <a:ext cx="11201400" cy="1060704"/>
          </a:xfrm>
          <a:prstGeom prst="roundRect">
            <a:avLst>
              <a:gd name="adj" fmla="val 5172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777240" y="3785616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91363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703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verified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09160" y="3703320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praxis_base + alex_child theme zips inspected. Hero lines, prose CSS fix, Termine recurring repeater, Werdegang split — all confirmed present in code.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4745736"/>
            <a:ext cx="11201400" cy="1060704"/>
          </a:xfrm>
          <a:prstGeom prst="roundRect">
            <a:avLst>
              <a:gd name="adj" fmla="val 5172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Shape 12"/>
          <p:cNvSpPr/>
          <p:nvPr/>
        </p:nvSpPr>
        <p:spPr>
          <a:xfrm>
            <a:off x="777240" y="4992624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12064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91032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basis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709160" y="4910328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tables taken at face value (your instruction). A discrepancy is flagged, not silently overridden.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discrepancy found: praxis_base build-pipeline files (package.json / lock) absent from the supplied zip though the URS lists them — flagged on slide 7.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Beriott GmbH  |  Dr. phil. Dr. rer. Nat. Henry Macartney  ·  Situation Report, 20 May 2026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1323015" y="64922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ALEXANDER KRETZSCHMAR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Achieved  vs.  Remaining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532120" cy="4434840"/>
          </a:xfrm>
          <a:prstGeom prst="roundRect">
            <a:avLst>
              <a:gd name="adj" fmla="val 1443"/>
            </a:avLst>
          </a:prstGeom>
          <a:solidFill>
            <a:srgbClr val="EAF2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theme alex_child built, inherits praxis_base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77977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pages live with real German content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322783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Five-band landing page; 6-card Leistungen grid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36758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reworked 17 May — new B/W images, 4-line headline (verified in code)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41239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7 with DSGVO consent → Alex's email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" y="457200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Four-column footer via ACF Options Page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502005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+ favicon; hamburger hidden on desktop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546811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to Hostinger demo (14 May), basic-auth protected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1554480"/>
            <a:ext cx="5532120" cy="4434840"/>
          </a:xfrm>
          <a:prstGeom prst="roundRect">
            <a:avLst>
              <a:gd name="adj" fmla="val 1443"/>
            </a:avLst>
          </a:prstGeom>
          <a:solidFill>
            <a:srgbClr val="F7EEE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4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C7791B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189280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37960" y="233172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Impressum &amp; Datenschutz — footer links 404; old-site source ready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537960" y="277977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Alex's reworked page texts (delivered 15 May, not yet applied)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537960" y="322783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Hero-band re-arrangement per Alex's feedback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537960" y="36758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Google Fonts (DSGVO)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6537960" y="41239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Sample Page / Privacy Policy drafts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537960" y="457200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md:hidden root-cause fix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537960" y="502005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redirect map; caching + security plugins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537960" y="546811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provisioning + DNS cutover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Beriott GmbH  |  Dr. phil. Dr. rer. Nat. Henry Macartney  ·  Situation Report, 20 May 2026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1323015" y="64922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BIRGIT KRETZSCHMAR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Achieved  vs.  Remaining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532120" cy="4434840"/>
          </a:xfrm>
          <a:prstGeom prst="roundRect">
            <a:avLst>
              <a:gd name="adj" fmla="val 1443"/>
            </a:avLst>
          </a:prstGeom>
          <a:solidFill>
            <a:srgbClr val="EAF2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primary pages + Leistungen overview + legal pages render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77977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directly on praxis_base (no child theme — by design)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322783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cream nav; desktop + mobile navigation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36758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3-image gallery; Contact Form 7 + DSGVO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41239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May: Über mich split, new Qualifikationen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" y="457200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May: Termine 'Regelmäßige Termine' recurring section (in code)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502005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May: Tanz-/Paartherapie long-form content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546811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Site-wide prose CSS fix (lists + links) — verified in code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1554480"/>
            <a:ext cx="5532120" cy="4434840"/>
          </a:xfrm>
          <a:prstGeom prst="roundRect">
            <a:avLst>
              <a:gd name="adj" fmla="val 1443"/>
            </a:avLst>
          </a:prstGeom>
          <a:solidFill>
            <a:srgbClr val="F7EEE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4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C7791B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189280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37960" y="233172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14-May changes NOT yet on demo — Local only; needs migration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537960" y="277977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reworked texts + Canadian Rockies photos (end May)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537960" y="322783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Impressum &amp; Datenschutz — placeholder; lawyer review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537960" y="36758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unpublished 'Praxis' draft page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6537960" y="41239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Google Fonts (DSGVO)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537960" y="457200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MB portrait + images not yet optimised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537960" y="502005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redirect map (old slugs → /leistungen/…)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537960" y="546811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provisioning + DNS cutover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Beriott GmbH  |  Dr. phil. Dr. rer. Nat. Henry Macartney  ·  Situation Report, 20 May 2026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1323015" y="64922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Workstream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9105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completion per workstream. Build and content are essentially done on both sites; the gap to launch is legal, compliance and deployment work.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464040" y="21579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469880" y="21579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Birgit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52374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build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56032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E7EDF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3383280" y="256032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E7EDF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3383280" y="274320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9464040" y="25237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69880" y="25237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2666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population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306324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E7EDF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3383280" y="306324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3383280" y="324612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E7EDF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3383280" y="3246120"/>
            <a:ext cx="4681728" cy="146304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9464040" y="302666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69880" y="302666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52958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deployment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356616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E7EDF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3383280" y="356616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3383280" y="374904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E7EDF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3383280" y="3749040"/>
            <a:ext cx="2926080" cy="146304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9464040" y="352958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469880" y="352958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03250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pages (Impressum/DS)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406908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E7EDF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Shape 28"/>
          <p:cNvSpPr/>
          <p:nvPr/>
        </p:nvSpPr>
        <p:spPr>
          <a:xfrm>
            <a:off x="3383280" y="4069080"/>
            <a:ext cx="585216" cy="146304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Shape 29"/>
          <p:cNvSpPr/>
          <p:nvPr/>
        </p:nvSpPr>
        <p:spPr>
          <a:xfrm>
            <a:off x="3383280" y="425196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E7EDF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Shape 30"/>
          <p:cNvSpPr/>
          <p:nvPr/>
        </p:nvSpPr>
        <p:spPr>
          <a:xfrm>
            <a:off x="3383280" y="4251960"/>
            <a:ext cx="585216" cy="146304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9464040" y="403250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69880" y="403250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53542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DSGVO hardening (fonts etc.)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83280" y="457200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E7EDF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7" name="Shape 35"/>
          <p:cNvSpPr/>
          <p:nvPr/>
        </p:nvSpPr>
        <p:spPr>
          <a:xfrm>
            <a:off x="3383280" y="4572000"/>
            <a:ext cx="877824" cy="146304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8" name="Shape 36"/>
          <p:cNvSpPr/>
          <p:nvPr/>
        </p:nvSpPr>
        <p:spPr>
          <a:xfrm>
            <a:off x="3383280" y="475488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E7EDF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9" name="Shape 37"/>
          <p:cNvSpPr/>
          <p:nvPr/>
        </p:nvSpPr>
        <p:spPr>
          <a:xfrm>
            <a:off x="3383280" y="4754880"/>
            <a:ext cx="877824" cy="146304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0" name="Text 38"/>
          <p:cNvSpPr/>
          <p:nvPr/>
        </p:nvSpPr>
        <p:spPr>
          <a:xfrm>
            <a:off x="9464040" y="453542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469880" y="453542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503834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redirect map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83280" y="507492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E7EDF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4" name="Shape 42"/>
          <p:cNvSpPr/>
          <p:nvPr/>
        </p:nvSpPr>
        <p:spPr>
          <a:xfrm>
            <a:off x="3383280" y="525780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E7EDF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5" name="Text 43"/>
          <p:cNvSpPr/>
          <p:nvPr/>
        </p:nvSpPr>
        <p:spPr>
          <a:xfrm>
            <a:off x="9464040" y="50383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469880" y="50383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554126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launch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83280" y="557784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E7EDF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9" name="Shape 47"/>
          <p:cNvSpPr/>
          <p:nvPr/>
        </p:nvSpPr>
        <p:spPr>
          <a:xfrm>
            <a:off x="3383280" y="5760720"/>
            <a:ext cx="5852160" cy="146304"/>
          </a:xfrm>
          <a:prstGeom prst="roundRect">
            <a:avLst>
              <a:gd name="adj" fmla="val 12500"/>
            </a:avLst>
          </a:prstGeom>
          <a:solidFill>
            <a:srgbClr val="E7EDF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0" name="Text 48"/>
          <p:cNvSpPr/>
          <p:nvPr/>
        </p:nvSpPr>
        <p:spPr>
          <a:xfrm>
            <a:off x="9464040" y="554126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469880" y="554126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overall:  Alex ~85%   ·   Birgit ~75%   (build-heavy weighting per handoff milestone tables)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Beriott GmbH  |  Dr. phil. Dr. rer. Nat. Henry Macartney  ·  Situation Report, 20 May 2026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323015" y="64922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&amp; INPUTS NEEDED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Slip — and What's Missing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2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TO THE RETURN-FROM-VACATION DEADLINE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6446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5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pages on both sites are placeholder/404 and need lawyer review — a hard gate on go-live, partly outside Beriott's control.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532888"/>
            <a:ext cx="6446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5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Birgit's reworked texts &amp; photos are an external dependency due end-May; content can't be finalised until they arrive.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91256"/>
            <a:ext cx="6446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5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Birgit's 14-May work is Local-only and uncommitted — single point of failure until pushed and migrated.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849624"/>
            <a:ext cx="6446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50"/>
              </a:lnSpc>
              <a:buSzPct val="100000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caching/security plugins; DSGVO font self-hosting open on both sites.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269480" y="1783080"/>
            <a:ext cx="4434840" cy="4160520"/>
          </a:xfrm>
          <a:prstGeom prst="roundRect">
            <a:avLst>
              <a:gd name="adj" fmla="val 153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754380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F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TIGHTEN THIS REPORT FURTHER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43800" y="2331720"/>
            <a:ext cx="3977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D5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Self-captured screenshots of both demo sites (I can't use the basic-auth credentials)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543800" y="3044952"/>
            <a:ext cx="3977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D5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Birgit-Termine editor URS (referenced but not supplied)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43800" y="3758184"/>
            <a:ext cx="3977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D5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Impressum/Datenschutz texts + lawyer status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0" y="4471416"/>
            <a:ext cx="3977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D5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Birgit's content/photos have arrived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43800" y="5184648"/>
            <a:ext cx="3977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D5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praxis_base build files (package.json) — absent from zip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Beriott GmbH  |  Dr. phil. Dr. rer. Nat. Henry Macartney  ·  Situation Report, 20 May 2026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23015" y="64922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474720" cy="347472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0789920" y="4114800"/>
            <a:ext cx="3017520" cy="301752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Done — Launch Is the Final Step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BF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sites are demo-ready and to be reviewed by the clients. Neither is blocked by engineering. The path to go-live runs through incomplete legal pages, DSGVO hardening, the redirect map, and production deployment — plus Birgit's pending content.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2C356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804672" y="2926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804672" y="2926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04672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migrate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4114800"/>
            <a:ext cx="2212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BF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14/17-May work; migrate Birgit's Local build to demo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5848" y="26974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2C356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3611880" y="2926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3611880" y="2926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1188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pages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4114800"/>
            <a:ext cx="2212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BF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Impressum/Datenschutz both sites; route for lawyer review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3056" y="26974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2C356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6419088" y="2926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6419088" y="2926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19088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DSGVO hardening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19088" y="4114800"/>
            <a:ext cx="2212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BF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fonts; add caching + security; redirect map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70264" y="26974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2C356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9226296" y="2926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9226296" y="2926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226296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26296" y="4114800"/>
            <a:ext cx="2212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BF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Hostinger, AIO migrate, DNS cutover before return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138928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868680" y="5349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458968"/>
            <a:ext cx="329184" cy="32918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600200" y="5285232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8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Alex ~85%, Birgit ~75% complete (self-reported, code-verified). No engineering blockers; remaining work is launch-phase and solely client/lawyer-dependent.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1323015" y="64922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1214</Words>
  <Application>Microsoft Macintosh PowerPoint</Application>
  <PresentationFormat>Widescreen</PresentationFormat>
  <Paragraphs>148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Praxis Kretzschmar — Situation Report</dc:title>
  <dc:subject>PptxGenJS Presentation</dc:subject>
  <dc:creator>Beriott GmbH</dc:creator>
  <cp:lastModifiedBy>Henry Macartney</cp:lastModifiedBy>
  <cp:revision>3</cp:revision>
  <dcterms:created xsi:type="dcterms:W3CDTF">2026-05-19T22:20:36Z</dcterms:created>
  <dcterms:modified xsi:type="dcterms:W3CDTF">2026-05-20T05:18:55Z</dcterms:modified>
</cp:coreProperties>
</file>